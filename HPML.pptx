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1d4c165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1d4c165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1d4c1656c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1d4c1656c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1ecf7f7f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1ecf7f7f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1ecf7f7fb_7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1ecf7f7fb_7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1ecf7f7fb_7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1ecf7f7fb_7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ecf7f7fb_79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1ecf7f7fb_79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1ecf7f7fb_79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1ecf7f7fb_79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1d4c1656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1d4c1656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1ecf7f7fb_79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1ecf7f7fb_79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1ecf7f7fb_79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1ecf7f7fb_79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1ecf7f7fb_79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1ecf7f7fb_79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1ecf7f7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1ecf7f7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1ecf7f7fb_79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1ecf7f7fb_79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1ecf7f7fb_79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1ecf7f7fb_79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ecf7f7fb_79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1ecf7f7fb_79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1ecf7f7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1ecf7f7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1ecf7f7f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1ecf7f7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97500" y="1578400"/>
            <a:ext cx="5876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/>
              <a:t>Knowledge Distillation for Scalable Deployment of</a:t>
            </a:r>
            <a:r>
              <a:rPr lang="en" sz="2800"/>
              <a:t> </a:t>
            </a:r>
            <a:r>
              <a:rPr lang="en" sz="2800"/>
              <a:t>Mixture-of-Experts Models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Stanley </a:t>
            </a:r>
            <a:r>
              <a:rPr lang="en"/>
              <a:t>Odour</a:t>
            </a:r>
            <a:r>
              <a:rPr lang="en"/>
              <a:t> and Tyler Manrique</a:t>
            </a:r>
            <a:br>
              <a:rPr lang="en"/>
            </a:br>
            <a:r>
              <a:rPr lang="en"/>
              <a:t>Mentors: Rakene Chowdhury and Jishan Desai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- Scaling bottleneck in LLMs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427550" y="1307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2270" lvl="0" marL="457200" rtl="0" algn="l">
              <a:spcBef>
                <a:spcPts val="0"/>
              </a:spcBef>
              <a:spcAft>
                <a:spcPts val="0"/>
              </a:spcAft>
              <a:buSzPts val="2420"/>
              <a:buChar char="-"/>
            </a:pPr>
            <a:r>
              <a:rPr lang="en" sz="2420"/>
              <a:t>Billion Parameter </a:t>
            </a:r>
            <a:r>
              <a:rPr lang="en" sz="2420"/>
              <a:t>LLMs are expensive and </a:t>
            </a:r>
            <a:r>
              <a:rPr lang="en" sz="2420"/>
              <a:t>unwieldy</a:t>
            </a:r>
            <a:endParaRPr sz="2420"/>
          </a:p>
          <a:p>
            <a:pPr indent="-382270" lvl="0" marL="457200" rtl="0" algn="l">
              <a:spcBef>
                <a:spcPts val="0"/>
              </a:spcBef>
              <a:spcAft>
                <a:spcPts val="0"/>
              </a:spcAft>
              <a:buSzPts val="2420"/>
              <a:buChar char="-"/>
            </a:pPr>
            <a:r>
              <a:rPr lang="en" sz="2420"/>
              <a:t>Inference on MOE systems only activates a fraction of the model</a:t>
            </a:r>
            <a:endParaRPr b="1" sz="2720"/>
          </a:p>
          <a:p>
            <a:pPr indent="-382270" lvl="0" marL="457200" rtl="0" algn="l">
              <a:spcBef>
                <a:spcPts val="0"/>
              </a:spcBef>
              <a:spcAft>
                <a:spcPts val="0"/>
              </a:spcAft>
              <a:buSzPts val="2420"/>
              <a:buChar char="-"/>
            </a:pPr>
            <a:r>
              <a:rPr lang="en" sz="2420"/>
              <a:t>MOE systems are more </a:t>
            </a:r>
            <a:r>
              <a:rPr lang="en" sz="2420"/>
              <a:t>scalable, cheaper, and more efficient than traditional models</a:t>
            </a:r>
            <a:endParaRPr sz="2420"/>
          </a:p>
          <a:p>
            <a:pPr indent="-382270" lvl="0" marL="457200" rtl="0" algn="l">
              <a:spcBef>
                <a:spcPts val="0"/>
              </a:spcBef>
              <a:spcAft>
                <a:spcPts val="0"/>
              </a:spcAft>
              <a:buSzPts val="2420"/>
              <a:buChar char="-"/>
            </a:pPr>
            <a:r>
              <a:rPr lang="en" sz="2420"/>
              <a:t>MoE</a:t>
            </a:r>
            <a:r>
              <a:rPr lang="en" sz="2420"/>
              <a:t> enables higher FLOPS throughput than </a:t>
            </a:r>
            <a:r>
              <a:rPr lang="en" sz="2420"/>
              <a:t>traditional</a:t>
            </a:r>
            <a:r>
              <a:rPr lang="en" sz="2420"/>
              <a:t> models</a:t>
            </a:r>
            <a:endParaRPr sz="214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24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</a:t>
            </a:r>
            <a:r>
              <a:rPr lang="en"/>
              <a:t>Definition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517625" y="1171800"/>
            <a:ext cx="7958400" cy="3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Expert Placement: </a:t>
            </a:r>
            <a:r>
              <a:rPr lang="en" sz="1600"/>
              <a:t>Which transformer layers benefit most from expert specialization? Should all layers be converted to MoE, or is selective placement more effective? 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Expert Configuration: </a:t>
            </a:r>
            <a:r>
              <a:rPr lang="en" sz="1600"/>
              <a:t>What is the optimal number of experts and routing strategy? Does having more experts improve performance? Does Top-2 routing outperform Top-1?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Knowledge Preservation: </a:t>
            </a:r>
            <a:r>
              <a:rPr lang="en" sz="1600"/>
              <a:t>Can knowledge from pre-trained dense models be effectively transferred to MoE architectures? Does Knowledge Distillation stabilize training, improve accuracy, or potentially constrain beneficial expert specialization?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Practical Deployment: </a:t>
            </a:r>
            <a:r>
              <a:rPr lang="en" sz="1600"/>
              <a:t>What are the real-world trade-offs between FLOPs reduction and actual throughput? Where are the implementation bottlenecks that prevent theoretical efficiency gains from materializing?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-Annotated Slide Sparse-Upcycled Mistral MoE: Architecture &amp; Conversion LEFT PANEL — Dense → MoE Conversion (Pipeline Diagram) Visual: vertical flow diagram (top → bottom) Block 1 — Dense Transformer Layer Label inside box: Dense Mistral FFN&#10;SwiGLU FFN&#10;(W_gate, W_up, W_down) Annotation (small text under box):&#10;Pretrained dense Mistral-7B&#10;All parameters active&#10;⬇️ Arrow label: Sparse upcycling Block 2 — Weight Replication Visual: one dense FFN splitting into multiple identical copies Label: Copy FFN weights → N experts Side annotation:&#10;All experts initialized identically&#10;No cold-start accuracy loss&#10;⬇️ Block 3 — MoE FFN Layer Label inside box: MoE FFN (N experts)&#10;Router + Load Balancing Side annotation:&#10;Functionally identical to dense at init&#10;Enables controlled fine-tuning&#10;CENTER PANEL — MoE Layer Internal Structure (Core Diagram) Visual: one token entering an MoE block Token Input Label on arrow entering block: Hidden state&#10;h∈R4096 Router Module (Top) Box label: Router Equation overlay (small): p=softmax(Wrouter​h+ε) Annotations:&#10;Produces probabilities over N experts&#10;Optional Gaussian noise improves exploration &amp; calibration&#10;⬇️ Split arrow Expert Selection (Middle) Visual: highlight 2 of 8 experts Label: Top-K Routing (K = 2) Equation overlay: y=i∈TopK∑​∑j∈TopK​pj​pi​​Experti​(h) Annotations:&#10;Sparse activation (2 / 8 experts)&#10;Renormalization preserves output scale&#10;Enables conditional computation&#10;Expert Boxes (Parallel) Each expert box label: Expert FFN (SwiGLU) Equation inside one expert (small): Wdown​(SiLU(Wgate​h)⊙Wup​h) Annotation under experts:&#10;Feature-level gating inside each expert&#10;Smooth gradients prevent dead experts&#10;Output Merge Arrow merging experts → output Label: MoE Output&#10;(same dimension as dense FFN) RIGHT PANEL — Training Stabilization &amp; Efficiency Load Balancing Loss Small box: Auxiliary Loss Equation: Laux​=Ni∑​fi​⋅Pi​Annotation:&#10;Prevents router collapse&#10;Encourages capacity utilization&#10;λ controls specialization vs balance. convert this to a single slide! in the conversion, i need the description of the conversion steps, the formulas with explanation of what formula does and how it works and a visualization. In the visualization, can you please be sure to include the routers too, top-2 routing actually, and the entire process of conversion to until we have the top-2 routing"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40" r="40" t="0"/>
          <a:stretch/>
        </p:blipFill>
        <p:spPr>
          <a:xfrm>
            <a:off x="225" y="20061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40" r="40" t="0"/>
          <a:stretch/>
        </p:blipFill>
        <p:spPr>
          <a:xfrm>
            <a:off x="0" y="19936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40" r="40" t="0"/>
          <a:stretch/>
        </p:blipFill>
        <p:spPr>
          <a:xfrm>
            <a:off x="0" y="19936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beautify the current slide such that the sections are balanced within the slide? right now we have a lot of empty space on the right, do not include any new section"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update such that all the four charts are in two slides not 4" id="177" name="Google Shape;1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2" title="Screenshot 2025-12-18 at 17.08.41.png"/>
          <p:cNvPicPr preferRelativeResize="0"/>
          <p:nvPr/>
        </p:nvPicPr>
        <p:blipFill rotWithShape="1">
          <a:blip r:embed="rId3">
            <a:alphaModFix/>
          </a:blip>
          <a:srcRect b="32877" l="0" r="0" t="0"/>
          <a:stretch/>
        </p:blipFill>
        <p:spPr>
          <a:xfrm>
            <a:off x="125250" y="593115"/>
            <a:ext cx="8893501" cy="3657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update such that all the four charts are in two slides not 4" id="187" name="Google Shape;18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4" title="tier1_core_kd_impa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18600" cy="487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10 MoE Variants&#10;All variants share a common pipeline but differ in specific configuration parameters. Each variant is trained twice: once with Standard fine-tuning, once with Knowledge Distillation (using the dense model as teacher).&#10;Variant&#10;Category&#10;Key Modification&#10;moe_baseline&#10;Baseline&#10;8 experts, Top-2, all 32 layers, λ=0.001&#10;top1_8x1&#10;Routing Strategy&#10;Top-1 routing (K=1 instead of K=2)&#10;balanced_8x2&#10;Routing Strategy&#10;High load balancing (λ=0.05, 50× baseline)&#10;routing_noisy_8x2&#10;Routing Strategy&#10;Router noise (σ=0.2 Gaussian)&#10;efficient_4x1&#10;Expert Count&#10;4 experts with Top-1 (fewer experts)&#10;placement_early_8x2&#10;Layer Placement&#10;MoE in layers 0-15 only (first 16)&#10;placement_middle_8x2&#10;Layer Placement&#10;MoE in layers 8-23 only (middle 16)&#10;placement_late_8x2&#10;Layer Placement&#10;MoE in layers 16-31 only (last 16)&#10;placement_mixed_8x2&#10;Layer Placement&#10;MoE in layers [0-3, 14-17, 28-31] (12 layers)&#10;sparse_8x2&#10;Layer Placement&#10;MoE every other layer (16 layers total)&#10;Variant-Specific Configurations&#10;Below are the specific parameters that differentiate each variant. All other parameters follow the common pipeline.&#10;4.1 Baseline Variant&#10;moe_baseline&#10;Experts (N)&#10;8&#10;Top-K (K)&#10;2&#10;MoE Layers&#10;All 32 layers&#10;Load Balance (λ)&#10;0.001&#10;Router Noise (σ)&#10;0.0&#10;Purpose&#10;Reference configuration (Mixtral-style architecture)&#10;&#10;4.2 Routing Strategy Variants&#10;top1_8x1&#10;Top-K (K)&#10;1 (changed from 2)&#10;All other params&#10;Same as baseline&#10;Purpose&#10;Test Switch Transformer style (single expert per token)&#10;&#10;balanced_8x2&#10;Load Balance (λ)&#10;0.05 (50× baseline)&#10;All other params&#10;Same as baseline&#10;Purpose&#10;Force stronger expert participation to prevent undertrained experts&#10;&#10;routing_noisy_8x2&#10;Router Noise (σ)&#10;0.2 (Gaussian noise added)&#10;All other params&#10;Same as baseline&#10;Purpose&#10;Exploration during training, implicit ensembling for calibration&#10;&#10;4.3 Expert Count Variant&#10;efficient_4x1&#10;Experts (N)&#10;4 (reduced from 8)&#10;Top-K (K)&#10;1&#10;All other params&#10;Same as baseline&#10;Purpose&#10;Test if 8 experts is necessary or if 4 suffices&#10;&#10;4.4 Layer Placement Variants&#10;These variants apply MoE to only a subset of the 32 transformer layers:&#10;placement_early_8x2&#10;MoE Layers&#10;Layers 0-15 (first 16 layers)&#10;Dense Layers&#10;Layers 16-31 (last 16 layers)&#10;Purpose&#10;Test if early layers benefit more from expert specialization&#10;&#10;placement_middle_8x2&#10;MoE Layers&#10;Layers 8-23 (middle 16 layers)&#10;Dense Layers&#10;Layers 0-7, 24-31&#10;Purpose&#10;Test if middle layers benefit more from expert specialization&#10;&#10;placement_late_8x2&#10;MoE Layers&#10;Layers 16-31 (last 16 layers)&#10;Dense Layers&#10;Layers 0-15 (first 16 layers)&#10;Purpose&#10;Test if late/task-specific layers benefit more from expert specialization&#10;&#10;placement_mixed_8x2&#10;MoE Layers&#10;Layers [0-3, 14-17, 28-31] — 12 layers total&#10;Dense Layers&#10;All other layers (20 layers)&#10;Purpose&#10;Strategic placement at early, middle, and late positions&#10;&#10;sparse_8x2&#10;MoE Layers&#10;Every other layer (0, 2, 4, ... 30) — 16 layers&#10;Dense Layers&#10;Odd layers (1, 3, 5, ... 31) — 16 layers&#10;Purpose&#10;50% MoE density for efficiency-accuracy tradeoff&#10;&#10;&#10;5. Results Summary&#10;5.1 All Variants Results&#10;Variant&#10;Std Acc&#10;KD Acc&#10;Δ&#10;ECE&#10;Memory&#10;Tok/s&#10;Dense (ref)&#10;0.6640&#10;—&#10;—&#10;0.0816&#10;13.5GB&#10;33,176&#10;moe_baseline&#10;0.6940&#10;0.6920&#10;-0.20%&#10;0.0450&#10;95.9GB&#10;5,463&#10;top1_8x1&#10;0.6960&#10;0.6920&#10;-0.40%&#10;0.0407&#10;89.4GB&#10;6,943&#10;balanced_8x2&#10;0.7010&#10;0.6940&#10;-0.70%&#10;0.0460&#10;88.1GB&#10;5,074&#10;routing_noisy&#10;0.7000&#10;0.7010&#10;+0.10%&#10;0.0265&#10;88.1GB&#10;5,631&#10;efficient_4x1&#10;0.6980&#10;0.6890&#10;-0.90%&#10;0.0397&#10;47.4GB&#10;7,758&#10;place_early&#10;0.6970&#10;0.6890&#10;-0.80%&#10;0.0387&#10;50.9GB&#10;8,840&#10;place_middle&#10;0.6970&#10;0.6940&#10;-0.30%&#10;0.0400&#10;50.9GB&#10;8,469&#10;place_late&#10;0.6930&#10;0.6930&#10;0.00%&#10;0.0464&#10;50.8GB&#10;8,334&#10;place_mixed&#10;0.6760&#10;0.6890&#10;+1.30%&#10;0.0531&#10;42.8GB&#10;9,063&#10;sparse_8x2&#10;0.7010&#10;0.6890&#10;-1.20%&#10;0.0416&#10;50.9GB&#10;8,268&#10;" id="197" name="Google Shape;19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7" title="moe_variants.png"/>
          <p:cNvPicPr preferRelativeResize="0"/>
          <p:nvPr/>
        </p:nvPicPr>
        <p:blipFill rotWithShape="1">
          <a:blip r:embed="rId3">
            <a:alphaModFix/>
          </a:blip>
          <a:srcRect b="0" l="32746" r="0" t="2676"/>
          <a:stretch/>
        </p:blipFill>
        <p:spPr>
          <a:xfrm>
            <a:off x="2505225" y="217113"/>
            <a:ext cx="3899776" cy="4709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and Lessons Learned</a:t>
            </a:r>
            <a:endParaRPr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86"/>
              <a:t>Conclusions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MoE outperforms/maintains the dense model on accuracy and reduces the compute costs while having a substantially larger capacity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Sequential processing of an MoE model lowers its throughput and latency, improved by expert parallelization 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 Knowledge distillation stabilizes the training of a model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MoE models </a:t>
            </a:r>
            <a:r>
              <a:rPr lang="en"/>
              <a:t>performance</a:t>
            </a:r>
            <a:r>
              <a:rPr lang="en"/>
              <a:t> is heavily influenced by the routing and expert configurations on both standard fine tuning and knowledge distillation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86"/>
              <a:t>Lessons Learned</a:t>
            </a:r>
            <a:endParaRPr b="1" sz="2086"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Impact of different </a:t>
            </a:r>
            <a:r>
              <a:rPr lang="en"/>
              <a:t>architectures</a:t>
            </a:r>
            <a:r>
              <a:rPr lang="en"/>
              <a:t> on the MoE models and performance on standard fine tuning and Knowledge Distillation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Adaptive Knowledge Distillation on MoE models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Impact of parallelization on improving model latency and throughput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LoRA fine-tuning and quantization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Using Micro-NAS instead of manual configurations for better search space navigation for better MoE </a:t>
            </a:r>
            <a:r>
              <a:rPr lang="en" sz="1700"/>
              <a:t>architecture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Experimenting with </a:t>
            </a:r>
            <a:r>
              <a:rPr lang="en" sz="1700"/>
              <a:t>adaptive</a:t>
            </a:r>
            <a:r>
              <a:rPr lang="en" sz="1700"/>
              <a:t> Knowledge Distillation making it </a:t>
            </a:r>
            <a:r>
              <a:rPr lang="en" sz="1700"/>
              <a:t>architecture</a:t>
            </a:r>
            <a:r>
              <a:rPr lang="en" sz="1700"/>
              <a:t> specific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Experimenting with progressive knowledge distillation </a:t>
            </a:r>
            <a:r>
              <a:rPr lang="en" sz="1700"/>
              <a:t>across</a:t>
            </a:r>
            <a:r>
              <a:rPr lang="en" sz="1700"/>
              <a:t> layers and routing-aware knowledge distillation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Experimenting with expert parallelism and merging for scalability and deployment optimizations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Cross testing with other models to test the validity of our results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